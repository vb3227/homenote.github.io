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9" r:id="rId3"/>
    <p:sldId id="261" r:id="rId4"/>
    <p:sldId id="262" r:id="rId5"/>
    <p:sldId id="264" r:id="rId6"/>
    <p:sldId id="265" r:id="rId7"/>
    <p:sldId id="266" r:id="rId8"/>
    <p:sldId id="267" r:id="rId9"/>
    <p:sldId id="268" r:id="rId10"/>
    <p:sldId id="269" r:id="rId11"/>
    <p:sldId id="270"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6E22"/>
    <a:srgbClr val="E78E23"/>
    <a:srgbClr val="D7432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198772-F23B-9097-6FB0-558C3EB8C672}" v="84" dt="2024-10-31T05:40:38.5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9" d="100"/>
          <a:sy n="59" d="100"/>
        </p:scale>
        <p:origin x="1500" y="2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09785C9-CCAB-42AE-8161-A156845E5FD3}" type="datetimeFigureOut">
              <a:rPr lang="en-GB" smtClean="0"/>
              <a:pPr/>
              <a:t>19/11/2025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79ED3DC-FFA5-4919-B264-F34597913C85}" type="slidenum">
              <a:rPr lang="en-GB" smtClean="0"/>
              <a:pPr/>
              <a:t>‹#›</a:t>
            </a:fld>
            <a:endParaRPr lang="en-GB"/>
          </a:p>
        </p:txBody>
      </p:sp>
    </p:spTree>
    <p:extLst>
      <p:ext uri="{BB962C8B-B14F-4D97-AF65-F5344CB8AC3E}">
        <p14:creationId xmlns:p14="http://schemas.microsoft.com/office/powerpoint/2010/main" val="3660632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79ED3DC-FFA5-4919-B264-F34597913C85}" type="slidenum">
              <a:rPr lang="en-GB" smtClean="0"/>
              <a:pPr/>
              <a:t>3</a:t>
            </a:fld>
            <a:endParaRPr lang="en-GB"/>
          </a:p>
        </p:txBody>
      </p:sp>
    </p:spTree>
    <p:extLst>
      <p:ext uri="{BB962C8B-B14F-4D97-AF65-F5344CB8AC3E}">
        <p14:creationId xmlns:p14="http://schemas.microsoft.com/office/powerpoint/2010/main" val="23102184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79ED3DC-FFA5-4919-B264-F34597913C85}" type="slidenum">
              <a:rPr lang="en-GB" smtClean="0"/>
              <a:pPr/>
              <a:t>8</a:t>
            </a:fld>
            <a:endParaRPr lang="en-GB"/>
          </a:p>
        </p:txBody>
      </p:sp>
    </p:spTree>
    <p:extLst>
      <p:ext uri="{BB962C8B-B14F-4D97-AF65-F5344CB8AC3E}">
        <p14:creationId xmlns:p14="http://schemas.microsoft.com/office/powerpoint/2010/main" val="4512720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1"/>
            <a:ext cx="9144000" cy="654049"/>
          </a:xfrm>
        </p:spPr>
        <p:txBody>
          <a:bodyPr>
            <a:normAutofit/>
          </a:bodyPr>
          <a:lstStyle>
            <a:lvl1pPr marL="540000" algn="l">
              <a:defRPr sz="1600"/>
            </a:lvl1pPr>
          </a:lstStyle>
          <a:p>
            <a:r>
              <a:rPr lang="en-US" sz="1600" dirty="0"/>
              <a:t>MYP Physics by Concept</a:t>
            </a:r>
            <a:endParaRPr lang="en-US" dirty="0"/>
          </a:p>
        </p:txBody>
      </p:sp>
      <p:sp>
        <p:nvSpPr>
          <p:cNvPr id="3" name="Subtitle 2"/>
          <p:cNvSpPr>
            <a:spLocks noGrp="1"/>
          </p:cNvSpPr>
          <p:nvPr>
            <p:ph type="subTitle" idx="1"/>
          </p:nvPr>
        </p:nvSpPr>
        <p:spPr>
          <a:xfrm>
            <a:off x="1371600" y="3886200"/>
            <a:ext cx="6400800" cy="12192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Master subtitle style</a:t>
            </a:r>
            <a:endParaRPr lang="en-US" dirty="0"/>
          </a:p>
        </p:txBody>
      </p:sp>
    </p:spTree>
    <p:extLst>
      <p:ext uri="{BB962C8B-B14F-4D97-AF65-F5344CB8AC3E}">
        <p14:creationId xmlns:p14="http://schemas.microsoft.com/office/powerpoint/2010/main" val="2414127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a:xfrm>
            <a:off x="457200" y="1600201"/>
            <a:ext cx="8229600" cy="37846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113754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1"/>
            <a:ext cx="4038600" cy="384657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7882118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2988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401485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1885988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2315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587078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34250" y="0"/>
            <a:ext cx="1809750" cy="5670550"/>
          </a:xfrm>
        </p:spPr>
        <p:txBody>
          <a:bodyPr vert="eaVert"/>
          <a:lstStyle/>
          <a:p>
            <a:r>
              <a:rPr lang="en-GB" dirty="0"/>
              <a:t>Click to edit Master title style</a:t>
            </a:r>
            <a:endParaRPr lang="en-US" dirty="0"/>
          </a:p>
        </p:txBody>
      </p:sp>
      <p:sp>
        <p:nvSpPr>
          <p:cNvPr id="3" name="Vertical Text Placeholder 2"/>
          <p:cNvSpPr>
            <a:spLocks noGrp="1"/>
          </p:cNvSpPr>
          <p:nvPr>
            <p:ph type="body" orient="vert" idx="1"/>
          </p:nvPr>
        </p:nvSpPr>
        <p:spPr>
          <a:xfrm>
            <a:off x="457200" y="274639"/>
            <a:ext cx="6019800" cy="5287962"/>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819317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jpe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1417638"/>
          </a:xfrm>
          <a:prstGeom prst="rect">
            <a:avLst/>
          </a:prstGeom>
          <a:solidFill>
            <a:srgbClr val="E78E23"/>
          </a:solidFill>
        </p:spPr>
        <p:txBody>
          <a:bodyPr vert="horz" lIns="91440" tIns="45720" rIns="91440" bIns="45720" rtlCol="0" anchor="ctr">
            <a:normAutofit/>
          </a:bodyPr>
          <a:lstStyle/>
          <a:p>
            <a:r>
              <a:rPr lang="en-GB" dirty="0"/>
              <a:t>Click to edit Master title style</a:t>
            </a:r>
            <a:endParaRPr lang="en-US" dirty="0"/>
          </a:p>
        </p:txBody>
      </p:sp>
      <p:sp>
        <p:nvSpPr>
          <p:cNvPr id="3" name="Text Placeholder 2"/>
          <p:cNvSpPr>
            <a:spLocks noGrp="1"/>
          </p:cNvSpPr>
          <p:nvPr>
            <p:ph type="body" idx="1"/>
          </p:nvPr>
        </p:nvSpPr>
        <p:spPr>
          <a:xfrm>
            <a:off x="457200" y="1600201"/>
            <a:ext cx="8229600" cy="3898900"/>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7" name="Picture 6" descr="EDU_PPT_Tab.png"/>
          <p:cNvPicPr>
            <a:picLocks noChangeAspect="1"/>
          </p:cNvPicPr>
          <p:nvPr userDrawn="1"/>
        </p:nvPicPr>
        <p:blipFill>
          <a:blip r:embed="rId10" cstate="print">
            <a:extLst>
              <a:ext uri="{28A0092B-C50C-407E-A947-70E740481C1C}">
                <a14:useLocalDpi xmlns:a14="http://schemas.microsoft.com/office/drawing/2010/main"/>
              </a:ext>
            </a:extLst>
          </a:blip>
          <a:stretch>
            <a:fillRect/>
          </a:stretch>
        </p:blipFill>
        <p:spPr>
          <a:xfrm>
            <a:off x="0" y="5446776"/>
            <a:ext cx="9144000" cy="1411224"/>
          </a:xfrm>
          <a:prstGeom prst="rect">
            <a:avLst/>
          </a:prstGeom>
          <a:effectLst>
            <a:outerShdw blurRad="152400" dist="38100" dir="14100000" algn="tl" rotWithShape="0">
              <a:srgbClr val="000000">
                <a:alpha val="20000"/>
              </a:srgbClr>
            </a:outerShdw>
          </a:effectLst>
        </p:spPr>
      </p:pic>
      <p:pic>
        <p:nvPicPr>
          <p:cNvPr id="8" name="Picture 7" descr="EDU_INT_CMYK_Land.jpg"/>
          <p:cNvPicPr>
            <a:picLocks noChangeAspect="1"/>
          </p:cNvPicPr>
          <p:nvPr userDrawn="1"/>
        </p:nvPicPr>
        <p:blipFill>
          <a:blip r:embed="rId11" cstate="print">
            <a:extLst>
              <a:ext uri="{28A0092B-C50C-407E-A947-70E740481C1C}">
                <a14:useLocalDpi xmlns:a14="http://schemas.microsoft.com/office/drawing/2010/main"/>
              </a:ext>
            </a:extLst>
          </a:blip>
          <a:stretch>
            <a:fillRect/>
          </a:stretch>
        </p:blipFill>
        <p:spPr>
          <a:xfrm>
            <a:off x="6669539" y="5918932"/>
            <a:ext cx="2018163" cy="649071"/>
          </a:xfrm>
          <a:prstGeom prst="rect">
            <a:avLst/>
          </a:prstGeom>
        </p:spPr>
      </p:pic>
      <p:sp>
        <p:nvSpPr>
          <p:cNvPr id="9" name="TextBox 8"/>
          <p:cNvSpPr txBox="1"/>
          <p:nvPr userDrawn="1"/>
        </p:nvSpPr>
        <p:spPr>
          <a:xfrm>
            <a:off x="612000" y="6235400"/>
            <a:ext cx="5040000" cy="184666"/>
          </a:xfrm>
          <a:prstGeom prst="rect">
            <a:avLst/>
          </a:prstGeom>
          <a:noFill/>
        </p:spPr>
        <p:txBody>
          <a:bodyPr wrap="square" lIns="0" tIns="0" rIns="0" bIns="0"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sz="1200" dirty="0">
                <a:latin typeface="Helvetica"/>
                <a:cs typeface="Helvetica"/>
              </a:rPr>
              <a:t>© Paul Grace/Hodder &amp; Stoughton Limited</a:t>
            </a:r>
          </a:p>
        </p:txBody>
      </p:sp>
    </p:spTree>
    <p:extLst>
      <p:ext uri="{BB962C8B-B14F-4D97-AF65-F5344CB8AC3E}">
        <p14:creationId xmlns:p14="http://schemas.microsoft.com/office/powerpoint/2010/main" val="35738310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8" r:id="rId7"/>
    <p:sldLayoutId id="2147483659" r:id="rId8"/>
  </p:sldLayoutIdLst>
  <p:txStyles>
    <p:titleStyle>
      <a:lvl1pPr algn="ctr" defTabSz="4572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www.funfront.net/"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hyperlink" Target="https://www.youtube.com/watch?v=RTEN06p6Rqk"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085850" y="2716467"/>
            <a:ext cx="666750" cy="666750"/>
          </a:xfrm>
          <a:prstGeom prst="ellipse">
            <a:avLst/>
          </a:prstGeom>
          <a:solidFill>
            <a:srgbClr val="E78E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p:cNvSpPr txBox="1"/>
          <p:nvPr/>
        </p:nvSpPr>
        <p:spPr>
          <a:xfrm>
            <a:off x="1181100" y="2673598"/>
            <a:ext cx="7506602" cy="1446550"/>
          </a:xfrm>
          <a:prstGeom prst="rect">
            <a:avLst/>
          </a:prstGeom>
          <a:noFill/>
        </p:spPr>
        <p:txBody>
          <a:bodyPr wrap="square" lIns="91440" tIns="45720" rIns="91440" bIns="45720" rtlCol="0" anchor="t">
            <a:spAutoFit/>
          </a:bodyPr>
          <a:lstStyle/>
          <a:p>
            <a:r>
              <a:rPr lang="en-GB" sz="4400" dirty="0"/>
              <a:t>3   Ideology and Intellectual Movements</a:t>
            </a:r>
          </a:p>
        </p:txBody>
      </p:sp>
      <p:sp>
        <p:nvSpPr>
          <p:cNvPr id="3" name="Title 2"/>
          <p:cNvSpPr>
            <a:spLocks noGrp="1"/>
          </p:cNvSpPr>
          <p:nvPr>
            <p:ph type="ctrTitle"/>
          </p:nvPr>
        </p:nvSpPr>
        <p:spPr>
          <a:solidFill>
            <a:srgbClr val="E78E23"/>
          </a:solidFill>
        </p:spPr>
        <p:txBody>
          <a:bodyPr/>
          <a:lstStyle/>
          <a:p>
            <a:r>
              <a:rPr lang="en-US" b="1" dirty="0"/>
              <a:t>History </a:t>
            </a:r>
            <a:r>
              <a:rPr lang="en-US" dirty="0"/>
              <a:t>for the IB MYP 4&amp;5: </a:t>
            </a:r>
            <a:r>
              <a:rPr lang="en-US" i="1" dirty="0"/>
              <a:t>by Concept  </a:t>
            </a:r>
            <a:endParaRPr lang="en-US" dirty="0">
              <a:solidFill>
                <a:schemeClr val="tx1"/>
              </a:solidFill>
            </a:endParaRPr>
          </a:p>
        </p:txBody>
      </p:sp>
      <p:pic>
        <p:nvPicPr>
          <p:cNvPr id="6" name="Picture 5" descr="EDU_PPT_Tab.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446776"/>
            <a:ext cx="9144000" cy="1411224"/>
          </a:xfrm>
          <a:prstGeom prst="rect">
            <a:avLst/>
          </a:prstGeom>
          <a:effectLst>
            <a:outerShdw blurRad="152400" dist="38100" dir="14100000" algn="tl" rotWithShape="0">
              <a:srgbClr val="000000">
                <a:alpha val="20000"/>
              </a:srgbClr>
            </a:outerShdw>
          </a:effectLst>
        </p:spPr>
      </p:pic>
      <p:pic>
        <p:nvPicPr>
          <p:cNvPr id="9" name="Picture 8" descr="EDU_INT_CMYK_Land.jp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669539" y="5918932"/>
            <a:ext cx="2018163" cy="649071"/>
          </a:xfrm>
          <a:prstGeom prst="rect">
            <a:avLst/>
          </a:prstGeom>
        </p:spPr>
      </p:pic>
      <p:sp>
        <p:nvSpPr>
          <p:cNvPr id="10" name="TextBox 9"/>
          <p:cNvSpPr txBox="1"/>
          <p:nvPr/>
        </p:nvSpPr>
        <p:spPr>
          <a:xfrm>
            <a:off x="612000" y="6235400"/>
            <a:ext cx="5040000" cy="184666"/>
          </a:xfrm>
          <a:prstGeom prst="rect">
            <a:avLst/>
          </a:prstGeom>
          <a:noFill/>
        </p:spPr>
        <p:txBody>
          <a:bodyPr wrap="square" lIns="0" tIns="0" rIns="0" bIns="0" rtlCol="0">
            <a:sp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sz="1200" dirty="0">
                <a:latin typeface="Helvetica"/>
                <a:cs typeface="Helvetica"/>
              </a:rPr>
              <a:t>©</a:t>
            </a:r>
          </a:p>
        </p:txBody>
      </p:sp>
      <p:sp>
        <p:nvSpPr>
          <p:cNvPr id="5" name="TextBox 4"/>
          <p:cNvSpPr txBox="1"/>
          <p:nvPr/>
        </p:nvSpPr>
        <p:spPr>
          <a:xfrm>
            <a:off x="1181100" y="4120148"/>
            <a:ext cx="7427191" cy="1200329"/>
          </a:xfrm>
          <a:prstGeom prst="rect">
            <a:avLst/>
          </a:prstGeom>
          <a:noFill/>
        </p:spPr>
        <p:txBody>
          <a:bodyPr wrap="square" lIns="91440" tIns="45720" rIns="91440" bIns="45720" rtlCol="0" anchor="t">
            <a:spAutoFit/>
          </a:bodyPr>
          <a:lstStyle/>
          <a:p>
            <a:r>
              <a:rPr lang="en-GB" sz="3600" dirty="0">
                <a:cs typeface="Calibri"/>
              </a:rPr>
              <a:t>Outcome: To assess the role of Fascism in the Italian society</a:t>
            </a:r>
          </a:p>
        </p:txBody>
      </p:sp>
    </p:spTree>
    <p:extLst>
      <p:ext uri="{BB962C8B-B14F-4D97-AF65-F5344CB8AC3E}">
        <p14:creationId xmlns:p14="http://schemas.microsoft.com/office/powerpoint/2010/main" val="51714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ctrTitle"/>
          </p:nvPr>
        </p:nvSpPr>
        <p:spPr>
          <a:solidFill>
            <a:srgbClr val="E78E23"/>
          </a:solidFill>
        </p:spPr>
        <p:txBody>
          <a:bodyPr/>
          <a:lstStyle/>
          <a:p>
            <a:r>
              <a:rPr lang="en-US" b="1" dirty="0"/>
              <a:t>History</a:t>
            </a:r>
            <a:r>
              <a:rPr lang="en-US" dirty="0"/>
              <a:t> for the IB MYP 4&amp;5: </a:t>
            </a:r>
            <a:r>
              <a:rPr lang="en-US" i="1" dirty="0"/>
              <a:t>by Concept  </a:t>
            </a:r>
            <a:endParaRPr lang="en-US" dirty="0"/>
          </a:p>
        </p:txBody>
      </p:sp>
      <p:sp>
        <p:nvSpPr>
          <p:cNvPr id="10" name="TextBox 9"/>
          <p:cNvSpPr txBox="1"/>
          <p:nvPr/>
        </p:nvSpPr>
        <p:spPr>
          <a:xfrm>
            <a:off x="4451660" y="1324492"/>
            <a:ext cx="4082967" cy="3046988"/>
          </a:xfrm>
          <a:prstGeom prst="rect">
            <a:avLst/>
          </a:prstGeom>
          <a:noFill/>
        </p:spPr>
        <p:txBody>
          <a:bodyPr wrap="square" rtlCol="0">
            <a:spAutoFit/>
          </a:bodyPr>
          <a:lstStyle/>
          <a:p>
            <a:r>
              <a:rPr lang="en-US" sz="3200" dirty="0"/>
              <a:t>This symbol was used by Mussolini during his rule over Italy. </a:t>
            </a:r>
          </a:p>
          <a:p>
            <a:endParaRPr lang="en-US" sz="3200" dirty="0"/>
          </a:p>
          <a:p>
            <a:r>
              <a:rPr lang="en-US" sz="3200" dirty="0"/>
              <a:t>What do you think the symbol represents?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8602" y="1324492"/>
            <a:ext cx="1998923" cy="3977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544277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a:xfrm>
            <a:off x="508000" y="781050"/>
            <a:ext cx="8178800" cy="986790"/>
          </a:xfrm>
          <a:prstGeom prst="rect">
            <a:avLst/>
          </a:prstGeom>
        </p:spPr>
        <p:txBody>
          <a:bodyPr vert="horz" lIns="91440" tIns="45720" rIns="91440" bIns="45720" rtlCol="0">
            <a:normAutofit fontScale="77500" lnSpcReduction="20000"/>
          </a:bodyPr>
          <a:lstStyle>
            <a:lvl1pPr marL="0" indent="0" algn="ctr" defTabSz="457200" rtl="0" eaLnBrk="1" latinLnBrk="0" hangingPunct="1">
              <a:spcBef>
                <a:spcPct val="20000"/>
              </a:spcBef>
              <a:buFont typeface="Arial"/>
              <a:buNone/>
              <a:defRPr sz="3200" kern="1200">
                <a:solidFill>
                  <a:schemeClr val="tx1"/>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r>
              <a:rPr lang="en-US" sz="4400" dirty="0"/>
              <a:t>Use this extract to answer the question:</a:t>
            </a:r>
            <a:br>
              <a:rPr lang="en-US" sz="4400" dirty="0"/>
            </a:br>
            <a:r>
              <a:rPr lang="en-US" sz="4400" dirty="0"/>
              <a:t>What is fascism?</a:t>
            </a:r>
            <a:endParaRPr lang="en-GB" sz="4400" b="1" dirty="0"/>
          </a:p>
        </p:txBody>
      </p:sp>
      <p:sp>
        <p:nvSpPr>
          <p:cNvPr id="8" name="Title 7"/>
          <p:cNvSpPr>
            <a:spLocks noGrp="1"/>
          </p:cNvSpPr>
          <p:nvPr>
            <p:ph type="ctrTitle"/>
          </p:nvPr>
        </p:nvSpPr>
        <p:spPr>
          <a:solidFill>
            <a:srgbClr val="E78E23"/>
          </a:solidFill>
        </p:spPr>
        <p:txBody>
          <a:bodyPr/>
          <a:lstStyle/>
          <a:p>
            <a:r>
              <a:rPr lang="en-US" b="1" dirty="0"/>
              <a:t>History</a:t>
            </a:r>
            <a:r>
              <a:rPr lang="en-US" dirty="0"/>
              <a:t> for the IB MYP 4&amp;5: </a:t>
            </a:r>
            <a:r>
              <a:rPr lang="en-US" i="1" dirty="0"/>
              <a:t>by Concept  </a:t>
            </a:r>
            <a:endParaRPr lang="en-US" dirty="0"/>
          </a:p>
        </p:txBody>
      </p:sp>
      <p:sp>
        <p:nvSpPr>
          <p:cNvPr id="10" name="Content Placeholder 2"/>
          <p:cNvSpPr txBox="1">
            <a:spLocks/>
          </p:cNvSpPr>
          <p:nvPr/>
        </p:nvSpPr>
        <p:spPr>
          <a:xfrm>
            <a:off x="457200" y="1600200"/>
            <a:ext cx="8229600" cy="4525963"/>
          </a:xfrm>
          <a:prstGeom prst="rect">
            <a:avLst/>
          </a:prstGeom>
        </p:spPr>
        <p:txBody>
          <a:bodyPr vert="horz" lIns="91440" tIns="45720" rIns="91440" bIns="45720" rtlCol="0">
            <a:normAutofit fontScale="32500" lnSpcReduction="20000"/>
          </a:bodyPr>
          <a:lstStyle>
            <a:lvl1pPr marL="0" indent="0" algn="ctr" defTabSz="457200" rtl="0" eaLnBrk="1" latinLnBrk="0" hangingPunct="1">
              <a:spcBef>
                <a:spcPct val="20000"/>
              </a:spcBef>
              <a:buFont typeface="Arial"/>
              <a:buNone/>
              <a:defRPr sz="3200" kern="1200">
                <a:solidFill>
                  <a:schemeClr val="tx1"/>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r>
              <a:rPr lang="en-US" sz="4600" dirty="0"/>
              <a:t>The word Fascism has a dual origin. It comes in part from the word ‘fasces’, a bundle of rods round an axe carried by the magistrates in ancient Rome as a symbol of power and authority. It comes also from the Italian word, </a:t>
            </a:r>
            <a:r>
              <a:rPr lang="en-US" sz="4600" dirty="0" err="1"/>
              <a:t>fascio</a:t>
            </a:r>
            <a:r>
              <a:rPr lang="en-US" sz="4600" dirty="0"/>
              <a:t>, meaning band or group. The basic concept of Fascism, as elaborated by Mussolini, was that the State was absolute before which individuals and groups were all relative.</a:t>
            </a:r>
            <a:endParaRPr lang="en-GB" sz="4600" dirty="0"/>
          </a:p>
          <a:p>
            <a:pPr algn="l"/>
            <a:r>
              <a:rPr lang="en-US" sz="4600" dirty="0"/>
              <a:t>Politically, to the Fascists, parliamentary democracy could only lead to inefficiency and corrupt government; and so the whole parliamentary system must be discarded. In the words of Mussolini, national strength was conceived qualitatively and not quantitatively. For the strength of the nation, it should be ruled by a well-disciplined party elite, which, under the guidance of an inspired and unquestioned leader, would restore order and stability for the nation and lead it forward to greatness.</a:t>
            </a:r>
            <a:endParaRPr lang="en-GB" sz="4600" dirty="0"/>
          </a:p>
          <a:p>
            <a:pPr algn="l"/>
            <a:r>
              <a:rPr lang="en-US" sz="4600" dirty="0"/>
              <a:t>Economically, Mussolini preferred state control to laissez faire. </a:t>
            </a:r>
            <a:r>
              <a:rPr lang="en-US" sz="4600" dirty="0" err="1"/>
              <a:t>Labour</a:t>
            </a:r>
            <a:r>
              <a:rPr lang="en-US" sz="4600" dirty="0"/>
              <a:t> and capital must work together under the direction of the state.</a:t>
            </a:r>
            <a:endParaRPr lang="en-GB" sz="4600" dirty="0"/>
          </a:p>
          <a:p>
            <a:pPr algn="l"/>
            <a:r>
              <a:rPr lang="en-US" sz="4600" dirty="0"/>
              <a:t>Socially, Mussolini condemned Marxism for dividing the nation into classes and causing class war which would sap the strength of a nation. Thus he demanded that the people should subject themselves to the absolute authority of the state. People could find their own worth only when they were serving the state. As a result, freedom of assembly and thinking were wiped out in Italy.</a:t>
            </a:r>
            <a:endParaRPr lang="en-GB" sz="4600" dirty="0"/>
          </a:p>
          <a:p>
            <a:pPr algn="l"/>
            <a:r>
              <a:rPr lang="en-US" sz="4600" dirty="0"/>
              <a:t>In foreign policy, since Fascism promised national glory, it was natural for Mussolini to adopt an expansionist foreign policy from the beginning of his rule. Mussolini's ultimate goal was to revive the glories of the old Roman Empire.</a:t>
            </a:r>
            <a:endParaRPr lang="en-GB" sz="4600" dirty="0"/>
          </a:p>
          <a:p>
            <a:pPr algn="l"/>
            <a:r>
              <a:rPr lang="en-US" sz="4600" dirty="0"/>
              <a:t>In short, a Fascist state was a totalitarian state, controlling all the political, economic and social activities of its people. Mussolini always proclaimed, ‘Everything within the state, nothing against the state, nothing outside the state.’ The masses should only ‘believe, obey and fight’.</a:t>
            </a:r>
          </a:p>
          <a:p>
            <a:pPr algn="l"/>
            <a:r>
              <a:rPr lang="en-US" sz="4300" dirty="0"/>
              <a:t>Extract from </a:t>
            </a:r>
            <a:r>
              <a:rPr lang="en-US" sz="4300" dirty="0">
                <a:hlinkClick r:id="rId3"/>
              </a:rPr>
              <a:t>www.funfront.net</a:t>
            </a:r>
            <a:r>
              <a:rPr lang="en-US" sz="4300" dirty="0"/>
              <a:t> </a:t>
            </a:r>
            <a:endParaRPr lang="en-GB" sz="4300" dirty="0"/>
          </a:p>
          <a:p>
            <a:pPr algn="l"/>
            <a:endParaRPr lang="en-US" dirty="0"/>
          </a:p>
        </p:txBody>
      </p:sp>
    </p:spTree>
    <p:extLst>
      <p:ext uri="{BB962C8B-B14F-4D97-AF65-F5344CB8AC3E}">
        <p14:creationId xmlns:p14="http://schemas.microsoft.com/office/powerpoint/2010/main" val="2508524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a:xfrm>
            <a:off x="508000" y="838199"/>
            <a:ext cx="8178800" cy="946355"/>
          </a:xfrm>
          <a:prstGeom prst="rect">
            <a:avLst/>
          </a:prstGeom>
        </p:spPr>
        <p:txBody>
          <a:bodyPr vert="horz" lIns="91440" tIns="45720" rIns="91440" bIns="45720" rtlCol="0">
            <a:noAutofit/>
          </a:bodyPr>
          <a:lstStyle>
            <a:lvl1pPr marL="0" indent="0" algn="ctr" defTabSz="457200" rtl="0" eaLnBrk="1" latinLnBrk="0" hangingPunct="1">
              <a:spcBef>
                <a:spcPct val="20000"/>
              </a:spcBef>
              <a:buFont typeface="Arial"/>
              <a:buNone/>
              <a:defRPr sz="3200" kern="1200">
                <a:solidFill>
                  <a:schemeClr val="tx1"/>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r>
              <a:rPr lang="en-US" dirty="0"/>
              <a:t>On the following slides you will see a series of sources related to fascism in Italy under the rule of Benito Mussolini.</a:t>
            </a:r>
            <a:endParaRPr lang="en-GB" b="1" dirty="0"/>
          </a:p>
        </p:txBody>
      </p:sp>
      <p:sp>
        <p:nvSpPr>
          <p:cNvPr id="8" name="Title 7"/>
          <p:cNvSpPr>
            <a:spLocks noGrp="1"/>
          </p:cNvSpPr>
          <p:nvPr>
            <p:ph type="ctrTitle"/>
          </p:nvPr>
        </p:nvSpPr>
        <p:spPr>
          <a:solidFill>
            <a:srgbClr val="E78E23"/>
          </a:solidFill>
        </p:spPr>
        <p:txBody>
          <a:bodyPr/>
          <a:lstStyle/>
          <a:p>
            <a:r>
              <a:rPr lang="en-US" b="1" dirty="0"/>
              <a:t>History</a:t>
            </a:r>
            <a:r>
              <a:rPr lang="en-US" dirty="0"/>
              <a:t> for the IB MYP 4&amp;5: </a:t>
            </a:r>
            <a:r>
              <a:rPr lang="en-US" i="1" dirty="0"/>
              <a:t>by Concept  </a:t>
            </a:r>
            <a:endParaRPr lang="en-US" dirty="0"/>
          </a:p>
        </p:txBody>
      </p:sp>
      <p:sp>
        <p:nvSpPr>
          <p:cNvPr id="6" name="Content Placeholder 2"/>
          <p:cNvSpPr txBox="1">
            <a:spLocks/>
          </p:cNvSpPr>
          <p:nvPr/>
        </p:nvSpPr>
        <p:spPr>
          <a:xfrm>
            <a:off x="508000" y="2523694"/>
            <a:ext cx="8514080" cy="3272196"/>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r>
              <a:rPr lang="en-US" dirty="0"/>
              <a:t>For each source consider the following questions:</a:t>
            </a:r>
          </a:p>
          <a:p>
            <a:pPr marL="457200" indent="-457200" algn="l">
              <a:buFont typeface="Arial" panose="020B0604020202020204" pitchFamily="34" charset="0"/>
              <a:buChar char="•"/>
            </a:pPr>
            <a:r>
              <a:rPr lang="en-US" dirty="0"/>
              <a:t>What is going on in the source?</a:t>
            </a:r>
          </a:p>
          <a:p>
            <a:pPr marL="457200" indent="-457200" algn="l">
              <a:buFont typeface="Arial" panose="020B0604020202020204" pitchFamily="34" charset="0"/>
              <a:buChar char="•"/>
            </a:pPr>
            <a:r>
              <a:rPr lang="en-US" dirty="0"/>
              <a:t>What does it tell us about </a:t>
            </a:r>
          </a:p>
          <a:p>
            <a:pPr indent="357188" algn="l"/>
            <a:r>
              <a:rPr lang="en-US" dirty="0"/>
              <a:t>a) Fascism</a:t>
            </a:r>
          </a:p>
          <a:p>
            <a:pPr indent="357188" algn="l"/>
            <a:r>
              <a:rPr lang="en-US" dirty="0"/>
              <a:t>b) Its impact on Italian society.</a:t>
            </a:r>
          </a:p>
        </p:txBody>
      </p:sp>
    </p:spTree>
    <p:extLst>
      <p:ext uri="{BB962C8B-B14F-4D97-AF65-F5344CB8AC3E}">
        <p14:creationId xmlns:p14="http://schemas.microsoft.com/office/powerpoint/2010/main" val="2079932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ctrTitle"/>
          </p:nvPr>
        </p:nvSpPr>
        <p:spPr>
          <a:solidFill>
            <a:srgbClr val="E78E23"/>
          </a:solidFill>
        </p:spPr>
        <p:txBody>
          <a:bodyPr/>
          <a:lstStyle/>
          <a:p>
            <a:r>
              <a:rPr lang="en-US" b="1" dirty="0"/>
              <a:t>History</a:t>
            </a:r>
            <a:r>
              <a:rPr lang="en-US" dirty="0"/>
              <a:t> for the IB MYP 4&amp;5: </a:t>
            </a:r>
            <a:r>
              <a:rPr lang="en-US" i="1" dirty="0"/>
              <a:t>by Concept  </a:t>
            </a:r>
            <a:endParaRPr lang="en-US" dirty="0"/>
          </a:p>
        </p:txBody>
      </p:sp>
      <p:pic>
        <p:nvPicPr>
          <p:cNvPr id="5" name="Picture 4"/>
          <p:cNvPicPr/>
          <p:nvPr/>
        </p:nvPicPr>
        <p:blipFill>
          <a:blip r:embed="rId2"/>
          <a:stretch>
            <a:fillRect/>
          </a:stretch>
        </p:blipFill>
        <p:spPr>
          <a:xfrm>
            <a:off x="1757521" y="1130997"/>
            <a:ext cx="5731510" cy="3946525"/>
          </a:xfrm>
          <a:prstGeom prst="rect">
            <a:avLst/>
          </a:prstGeom>
          <a:ln w="12700">
            <a:solidFill>
              <a:schemeClr val="tx1"/>
            </a:solidFill>
          </a:ln>
        </p:spPr>
      </p:pic>
    </p:spTree>
    <p:extLst>
      <p:ext uri="{BB962C8B-B14F-4D97-AF65-F5344CB8AC3E}">
        <p14:creationId xmlns:p14="http://schemas.microsoft.com/office/powerpoint/2010/main" val="1811790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ctrTitle"/>
          </p:nvPr>
        </p:nvSpPr>
        <p:spPr>
          <a:solidFill>
            <a:srgbClr val="E78E23"/>
          </a:solidFill>
        </p:spPr>
        <p:txBody>
          <a:bodyPr/>
          <a:lstStyle/>
          <a:p>
            <a:r>
              <a:rPr lang="en-US" b="1" dirty="0"/>
              <a:t>History</a:t>
            </a:r>
            <a:r>
              <a:rPr lang="en-US" dirty="0"/>
              <a:t> for the IB MYP 4&amp;5: </a:t>
            </a:r>
            <a:r>
              <a:rPr lang="en-US" i="1" dirty="0"/>
              <a:t>by Concept  </a:t>
            </a:r>
            <a:endParaRPr lang="en-US" dirty="0"/>
          </a:p>
        </p:txBody>
      </p:sp>
      <p:pic>
        <p:nvPicPr>
          <p:cNvPr id="4" name="Picture 3"/>
          <p:cNvPicPr/>
          <p:nvPr/>
        </p:nvPicPr>
        <p:blipFill>
          <a:blip r:embed="rId2"/>
          <a:stretch>
            <a:fillRect/>
          </a:stretch>
        </p:blipFill>
        <p:spPr>
          <a:xfrm>
            <a:off x="1612240" y="916285"/>
            <a:ext cx="5967879" cy="4629933"/>
          </a:xfrm>
          <a:prstGeom prst="rect">
            <a:avLst/>
          </a:prstGeom>
          <a:ln w="12700">
            <a:solidFill>
              <a:schemeClr val="tx1"/>
            </a:solidFill>
          </a:ln>
        </p:spPr>
      </p:pic>
    </p:spTree>
    <p:extLst>
      <p:ext uri="{BB962C8B-B14F-4D97-AF65-F5344CB8AC3E}">
        <p14:creationId xmlns:p14="http://schemas.microsoft.com/office/powerpoint/2010/main" val="4287992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ctrTitle"/>
          </p:nvPr>
        </p:nvSpPr>
        <p:spPr>
          <a:solidFill>
            <a:srgbClr val="E78E23"/>
          </a:solidFill>
        </p:spPr>
        <p:txBody>
          <a:bodyPr/>
          <a:lstStyle/>
          <a:p>
            <a:r>
              <a:rPr lang="en-US" b="1" dirty="0"/>
              <a:t>History</a:t>
            </a:r>
            <a:r>
              <a:rPr lang="en-US" dirty="0"/>
              <a:t> for the IB MYP 4&amp;5: </a:t>
            </a:r>
            <a:r>
              <a:rPr lang="en-US" i="1" dirty="0"/>
              <a:t>by Concept  </a:t>
            </a:r>
            <a:endParaRPr lang="en-US" dirty="0"/>
          </a:p>
        </p:txBody>
      </p:sp>
      <p:sp>
        <p:nvSpPr>
          <p:cNvPr id="7" name="TextBox 6"/>
          <p:cNvSpPr txBox="1"/>
          <p:nvPr/>
        </p:nvSpPr>
        <p:spPr>
          <a:xfrm>
            <a:off x="1081319" y="1814290"/>
            <a:ext cx="7062823" cy="1569660"/>
          </a:xfrm>
          <a:prstGeom prst="rect">
            <a:avLst/>
          </a:prstGeom>
          <a:noFill/>
        </p:spPr>
        <p:txBody>
          <a:bodyPr wrap="square" lIns="91440" tIns="45720" rIns="91440" bIns="45720" rtlCol="0" anchor="t">
            <a:spAutoFit/>
          </a:bodyPr>
          <a:lstStyle/>
          <a:p>
            <a:r>
              <a:rPr lang="en-US" sz="2400" b="1" dirty="0"/>
              <a:t>Mussolini’s declaration of war </a:t>
            </a:r>
            <a:r>
              <a:rPr lang="en-US" sz="2400" dirty="0"/>
              <a:t>against Britain and France. </a:t>
            </a:r>
          </a:p>
          <a:p>
            <a:r>
              <a:rPr lang="en-US" sz="2400" dirty="0"/>
              <a:t>Made in Rome, 10 June 1940.</a:t>
            </a:r>
          </a:p>
          <a:p>
            <a:r>
              <a:rPr lang="en-US" sz="2400" dirty="0">
                <a:hlinkClick r:id="rId2"/>
              </a:rPr>
              <a:t>https://www.youtube.com/watch?v=RTEN06p6Rqk</a:t>
            </a:r>
            <a:r>
              <a:rPr lang="en-US" sz="2400" dirty="0"/>
              <a:t> </a:t>
            </a:r>
          </a:p>
        </p:txBody>
      </p:sp>
    </p:spTree>
    <p:extLst>
      <p:ext uri="{BB962C8B-B14F-4D97-AF65-F5344CB8AC3E}">
        <p14:creationId xmlns:p14="http://schemas.microsoft.com/office/powerpoint/2010/main" val="4006634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a:xfrm>
            <a:off x="457200" y="838200"/>
            <a:ext cx="8229600" cy="708660"/>
          </a:xfrm>
          <a:prstGeom prst="rect">
            <a:avLst/>
          </a:prstGeom>
        </p:spPr>
        <p:txBody>
          <a:bodyPr vert="horz" lIns="91440" tIns="45720" rIns="91440" bIns="45720" rtlCol="0">
            <a:noAutofit/>
          </a:bodyPr>
          <a:lstStyle>
            <a:lvl1pPr marL="0" indent="0" algn="ctr" defTabSz="457200" rtl="0" eaLnBrk="1" latinLnBrk="0" hangingPunct="1">
              <a:spcBef>
                <a:spcPct val="20000"/>
              </a:spcBef>
              <a:buFont typeface="Arial"/>
              <a:buNone/>
              <a:defRPr sz="3200" kern="1200">
                <a:solidFill>
                  <a:schemeClr val="tx1"/>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r>
              <a:rPr lang="en-US" sz="3600" dirty="0"/>
              <a:t>Extract on the relationship with the Roman Catholic Church</a:t>
            </a:r>
            <a:endParaRPr lang="en-GB" sz="3600" b="1" dirty="0"/>
          </a:p>
        </p:txBody>
      </p:sp>
      <p:sp>
        <p:nvSpPr>
          <p:cNvPr id="8" name="Title 7"/>
          <p:cNvSpPr>
            <a:spLocks noGrp="1"/>
          </p:cNvSpPr>
          <p:nvPr>
            <p:ph type="ctrTitle"/>
          </p:nvPr>
        </p:nvSpPr>
        <p:spPr>
          <a:solidFill>
            <a:srgbClr val="E78E23"/>
          </a:solidFill>
        </p:spPr>
        <p:txBody>
          <a:bodyPr/>
          <a:lstStyle/>
          <a:p>
            <a:r>
              <a:rPr lang="en-US" b="1" dirty="0"/>
              <a:t>History</a:t>
            </a:r>
            <a:r>
              <a:rPr lang="en-US" dirty="0"/>
              <a:t> for the IB MYP 4&amp;5: </a:t>
            </a:r>
            <a:r>
              <a:rPr lang="en-US" i="1" dirty="0"/>
              <a:t>by Concept  </a:t>
            </a:r>
            <a:endParaRPr lang="en-US" dirty="0"/>
          </a:p>
        </p:txBody>
      </p:sp>
      <p:sp>
        <p:nvSpPr>
          <p:cNvPr id="5" name="Content Placeholder 2"/>
          <p:cNvSpPr txBox="1">
            <a:spLocks/>
          </p:cNvSpPr>
          <p:nvPr/>
        </p:nvSpPr>
        <p:spPr>
          <a:xfrm>
            <a:off x="457200" y="1965960"/>
            <a:ext cx="8229600" cy="4525963"/>
          </a:xfrm>
          <a:prstGeom prst="rect">
            <a:avLst/>
          </a:prstGeom>
        </p:spPr>
        <p:txBody>
          <a:bodyPr vert="horz" lIns="91440" tIns="45720" rIns="91440" bIns="45720" rtlCol="0">
            <a:noAutofit/>
          </a:bodyPr>
          <a:lstStyle>
            <a:lvl1pPr marL="0" indent="0" algn="ctr" defTabSz="457200" rtl="0" eaLnBrk="1" latinLnBrk="0" hangingPunct="1">
              <a:spcBef>
                <a:spcPct val="20000"/>
              </a:spcBef>
              <a:buFont typeface="Arial"/>
              <a:buNone/>
              <a:defRPr sz="3200" kern="1200">
                <a:solidFill>
                  <a:schemeClr val="tx1"/>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r>
              <a:rPr lang="en-US" sz="1600" dirty="0"/>
              <a:t>Mussolini had to foster good relations with the Roman Catholic Church simply because, regardless of his dictatorship, the Roman Catholic Church was such a powerful institution in Italy. While Mussolini governed the political side of Italy, the Roman Catholic Church governed the spiritual side. In this sense, Mussolini could not afford to anger the Roman Catholic Church.</a:t>
            </a:r>
          </a:p>
          <a:p>
            <a:pPr algn="l"/>
            <a:r>
              <a:rPr lang="en-US" sz="1600" dirty="0"/>
              <a:t>As a young man, Mussolini had shared his father’s opinion of the Roman Catholic Church. Mussolini senior disliked the power of the Church and the young Mussolini referred to priests as ‘black germs’.</a:t>
            </a:r>
          </a:p>
          <a:p>
            <a:pPr algn="l"/>
            <a:r>
              <a:rPr lang="en-US" sz="1600" dirty="0"/>
              <a:t>However, once in power after 1922, he had to be more guided. Mussolini had </a:t>
            </a:r>
            <a:r>
              <a:rPr lang="en-US" sz="1600" dirty="0" err="1"/>
              <a:t>recognised</a:t>
            </a:r>
            <a:r>
              <a:rPr lang="en-US" sz="1600" dirty="0"/>
              <a:t> this as early as 1920 when the fledgling future leader of Italy had said that the pope ‘represents 400 million men scattered the world over … (this was) a colossal force.’</a:t>
            </a:r>
          </a:p>
          <a:p>
            <a:pPr algn="l"/>
            <a:r>
              <a:rPr lang="en-US" sz="1600" dirty="0"/>
              <a:t>Once leader, Mussolini had to decide on whether to take on the power of the Roman Catholic Church in Italy or to work with it. He chose the latter. In this way, Italians did not have to have divided loyalties. Therefore, Mussolini worked to get the Roman Catholic Church to accept a Fascist state while he planned to offer the Roman Catholic Church what it wanted.</a:t>
            </a:r>
          </a:p>
        </p:txBody>
      </p:sp>
    </p:spTree>
    <p:extLst>
      <p:ext uri="{BB962C8B-B14F-4D97-AF65-F5344CB8AC3E}">
        <p14:creationId xmlns:p14="http://schemas.microsoft.com/office/powerpoint/2010/main" val="2335611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ctrTitle"/>
          </p:nvPr>
        </p:nvSpPr>
        <p:spPr>
          <a:solidFill>
            <a:srgbClr val="E78E23"/>
          </a:solidFill>
        </p:spPr>
        <p:txBody>
          <a:bodyPr/>
          <a:lstStyle/>
          <a:p>
            <a:r>
              <a:rPr lang="en-US" b="1" dirty="0"/>
              <a:t>History</a:t>
            </a:r>
            <a:r>
              <a:rPr lang="en-US" dirty="0"/>
              <a:t> for the IB MYP 4&amp;5: </a:t>
            </a:r>
            <a:r>
              <a:rPr lang="en-US" i="1" dirty="0"/>
              <a:t>by Concept  </a:t>
            </a:r>
            <a:endParaRPr lang="en-US" dirty="0"/>
          </a:p>
        </p:txBody>
      </p:sp>
      <p:sp>
        <p:nvSpPr>
          <p:cNvPr id="9" name="TextBox 8"/>
          <p:cNvSpPr txBox="1"/>
          <p:nvPr/>
        </p:nvSpPr>
        <p:spPr>
          <a:xfrm>
            <a:off x="6695908" y="924929"/>
            <a:ext cx="2310932" cy="2246769"/>
          </a:xfrm>
          <a:prstGeom prst="rect">
            <a:avLst/>
          </a:prstGeom>
          <a:noFill/>
        </p:spPr>
        <p:txBody>
          <a:bodyPr wrap="square" rtlCol="0">
            <a:spAutoFit/>
          </a:bodyPr>
          <a:lstStyle/>
          <a:p>
            <a:r>
              <a:rPr lang="en-US" sz="2800" dirty="0"/>
              <a:t>Mural on a house with a fascist slogan:</a:t>
            </a:r>
          </a:p>
          <a:p>
            <a:r>
              <a:rPr lang="en-US" sz="2800" dirty="0"/>
              <a:t>‘We dream of a Roman Italy’.</a:t>
            </a:r>
          </a:p>
        </p:txBody>
      </p:sp>
      <p:pic>
        <p:nvPicPr>
          <p:cNvPr id="6" name="Picture 5"/>
          <p:cNvPicPr/>
          <p:nvPr/>
        </p:nvPicPr>
        <p:blipFill>
          <a:blip r:embed="rId2"/>
          <a:stretch>
            <a:fillRect/>
          </a:stretch>
        </p:blipFill>
        <p:spPr>
          <a:xfrm>
            <a:off x="689296" y="1053116"/>
            <a:ext cx="5873874" cy="4484559"/>
          </a:xfrm>
          <a:prstGeom prst="rect">
            <a:avLst/>
          </a:prstGeom>
          <a:ln w="12700">
            <a:solidFill>
              <a:schemeClr val="tx1"/>
            </a:solidFill>
          </a:ln>
        </p:spPr>
      </p:pic>
    </p:spTree>
    <p:extLst>
      <p:ext uri="{BB962C8B-B14F-4D97-AF65-F5344CB8AC3E}">
        <p14:creationId xmlns:p14="http://schemas.microsoft.com/office/powerpoint/2010/main" val="3781447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a:xfrm>
            <a:off x="457200" y="838200"/>
            <a:ext cx="8229600" cy="708660"/>
          </a:xfrm>
          <a:prstGeom prst="rect">
            <a:avLst/>
          </a:prstGeom>
        </p:spPr>
        <p:txBody>
          <a:bodyPr vert="horz" lIns="91440" tIns="45720" rIns="91440" bIns="45720" rtlCol="0">
            <a:noAutofit/>
          </a:bodyPr>
          <a:lstStyle>
            <a:lvl1pPr marL="0" indent="0" algn="ctr" defTabSz="457200" rtl="0" eaLnBrk="1" latinLnBrk="0" hangingPunct="1">
              <a:spcBef>
                <a:spcPct val="20000"/>
              </a:spcBef>
              <a:buFont typeface="Arial"/>
              <a:buNone/>
              <a:defRPr sz="3200" kern="1200">
                <a:solidFill>
                  <a:schemeClr val="tx1"/>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r>
              <a:rPr lang="en-US" sz="3600" dirty="0"/>
              <a:t>The Battle for Births</a:t>
            </a:r>
            <a:endParaRPr lang="en-GB" sz="3600" b="1" dirty="0"/>
          </a:p>
        </p:txBody>
      </p:sp>
      <p:sp>
        <p:nvSpPr>
          <p:cNvPr id="8" name="Title 7"/>
          <p:cNvSpPr>
            <a:spLocks noGrp="1"/>
          </p:cNvSpPr>
          <p:nvPr>
            <p:ph type="ctrTitle"/>
          </p:nvPr>
        </p:nvSpPr>
        <p:spPr>
          <a:solidFill>
            <a:srgbClr val="E78E23"/>
          </a:solidFill>
        </p:spPr>
        <p:txBody>
          <a:bodyPr/>
          <a:lstStyle/>
          <a:p>
            <a:r>
              <a:rPr lang="en-US" b="1" dirty="0"/>
              <a:t>History</a:t>
            </a:r>
            <a:r>
              <a:rPr lang="en-US" dirty="0"/>
              <a:t> for the IB MYP 4&amp;5: </a:t>
            </a:r>
            <a:r>
              <a:rPr lang="en-US" i="1" dirty="0"/>
              <a:t>by Concept  </a:t>
            </a:r>
            <a:endParaRPr lang="en-US" dirty="0"/>
          </a:p>
        </p:txBody>
      </p:sp>
      <p:sp>
        <p:nvSpPr>
          <p:cNvPr id="5" name="Content Placeholder 2"/>
          <p:cNvSpPr txBox="1">
            <a:spLocks/>
          </p:cNvSpPr>
          <p:nvPr/>
        </p:nvSpPr>
        <p:spPr>
          <a:xfrm>
            <a:off x="457200" y="1600200"/>
            <a:ext cx="8229600" cy="4525963"/>
          </a:xfrm>
          <a:prstGeom prst="rect">
            <a:avLst/>
          </a:prstGeom>
        </p:spPr>
        <p:txBody>
          <a:bodyPr vert="horz" lIns="91440" tIns="45720" rIns="91440" bIns="45720" rtlCol="0">
            <a:normAutofit fontScale="70000" lnSpcReduction="20000"/>
          </a:bodyPr>
          <a:lstStyle>
            <a:lvl1pPr marL="0" indent="0" algn="ctr" defTabSz="457200" rtl="0" eaLnBrk="1" latinLnBrk="0" hangingPunct="1">
              <a:spcBef>
                <a:spcPct val="20000"/>
              </a:spcBef>
              <a:buFont typeface="Arial"/>
              <a:buNone/>
              <a:defRPr sz="3200" kern="1200">
                <a:solidFill>
                  <a:schemeClr val="tx1"/>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r>
              <a:rPr lang="en-US" dirty="0"/>
              <a:t>The ‘Battle for Births’, launched in 1927, was designed to increase the population from 40 million to 60 million by 1950. Mussolini specified 12 children per family as the ideal. To achieve this, a series of ‘carrot and stick’ measures were introduced. Marriage loans were offered to encourage couples to have more children. Part of the loan repayment was cancelled as each new child was born. A further financial inducement was that a married man with at least six children was exempt from all taxation. In addition, health care for mothers and infants was improved. Propaganda suggested that all good Italians had a duty to produce children for the </a:t>
            </a:r>
            <a:r>
              <a:rPr lang="en-US" i="1" dirty="0"/>
              <a:t>Duce</a:t>
            </a:r>
            <a:r>
              <a:rPr lang="en-US" dirty="0"/>
              <a:t>. Indeed, Mussolini gave prizes to the most prolific mothers.</a:t>
            </a:r>
          </a:p>
          <a:p>
            <a:pPr algn="l"/>
            <a:endParaRPr lang="en-US" dirty="0"/>
          </a:p>
          <a:p>
            <a:pPr algn="l"/>
            <a:r>
              <a:rPr lang="en-US" dirty="0"/>
              <a:t>Mark Robson</a:t>
            </a:r>
          </a:p>
          <a:p>
            <a:pPr algn="l"/>
            <a:r>
              <a:rPr lang="en-US" dirty="0"/>
              <a:t>Access to History</a:t>
            </a:r>
            <a:r>
              <a:rPr lang="en-US" i="1" dirty="0"/>
              <a:t>: Italy: The Rise of Fascism 1915–1945</a:t>
            </a:r>
          </a:p>
        </p:txBody>
      </p:sp>
    </p:spTree>
    <p:extLst>
      <p:ext uri="{BB962C8B-B14F-4D97-AF65-F5344CB8AC3E}">
        <p14:creationId xmlns:p14="http://schemas.microsoft.com/office/powerpoint/2010/main" val="1749063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a:xfrm>
            <a:off x="457200" y="838200"/>
            <a:ext cx="8229600" cy="708660"/>
          </a:xfrm>
          <a:prstGeom prst="rect">
            <a:avLst/>
          </a:prstGeom>
        </p:spPr>
        <p:txBody>
          <a:bodyPr vert="horz" lIns="91440" tIns="45720" rIns="91440" bIns="45720" rtlCol="0">
            <a:noAutofit/>
          </a:bodyPr>
          <a:lstStyle>
            <a:lvl1pPr marL="0" indent="0" algn="ctr" defTabSz="457200" rtl="0" eaLnBrk="1" latinLnBrk="0" hangingPunct="1">
              <a:spcBef>
                <a:spcPct val="20000"/>
              </a:spcBef>
              <a:buFont typeface="Arial"/>
              <a:buNone/>
              <a:defRPr sz="3200" kern="1200">
                <a:solidFill>
                  <a:schemeClr val="tx1"/>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r>
              <a:rPr lang="en-US" sz="3600" dirty="0"/>
              <a:t>Review</a:t>
            </a:r>
            <a:endParaRPr lang="en-GB" sz="3600" b="1" dirty="0"/>
          </a:p>
        </p:txBody>
      </p:sp>
      <p:sp>
        <p:nvSpPr>
          <p:cNvPr id="8" name="Title 7"/>
          <p:cNvSpPr>
            <a:spLocks noGrp="1"/>
          </p:cNvSpPr>
          <p:nvPr>
            <p:ph type="ctrTitle"/>
          </p:nvPr>
        </p:nvSpPr>
        <p:spPr>
          <a:solidFill>
            <a:srgbClr val="E78E23"/>
          </a:solidFill>
        </p:spPr>
        <p:txBody>
          <a:bodyPr/>
          <a:lstStyle/>
          <a:p>
            <a:r>
              <a:rPr lang="en-US" b="1" dirty="0"/>
              <a:t>History</a:t>
            </a:r>
            <a:r>
              <a:rPr lang="en-US" dirty="0"/>
              <a:t> for the IB MYP 4&amp;5: </a:t>
            </a:r>
            <a:r>
              <a:rPr lang="en-US" i="1" dirty="0"/>
              <a:t>by Concept  </a:t>
            </a:r>
            <a:endParaRPr lang="en-US" dirty="0"/>
          </a:p>
        </p:txBody>
      </p:sp>
      <p:sp>
        <p:nvSpPr>
          <p:cNvPr id="5" name="Content Placeholder 2"/>
          <p:cNvSpPr txBox="1">
            <a:spLocks/>
          </p:cNvSpPr>
          <p:nvPr/>
        </p:nvSpPr>
        <p:spPr>
          <a:xfrm>
            <a:off x="457200" y="1600200"/>
            <a:ext cx="8229600" cy="4525963"/>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marL="457200" indent="-457200" algn="l">
              <a:buFont typeface="Arial" panose="020B0604020202020204" pitchFamily="34" charset="0"/>
              <a:buChar char="•"/>
            </a:pPr>
            <a:r>
              <a:rPr lang="en-US" dirty="0"/>
              <a:t>What are the key features of fascism?</a:t>
            </a:r>
          </a:p>
          <a:p>
            <a:pPr marL="457200" indent="-457200" algn="l">
              <a:buFont typeface="Arial" panose="020B0604020202020204" pitchFamily="34" charset="0"/>
              <a:buChar char="•"/>
            </a:pPr>
            <a:r>
              <a:rPr lang="en-US" dirty="0"/>
              <a:t>How did fascism under Benito Mussolini affect ordinary people in Italy?</a:t>
            </a:r>
          </a:p>
          <a:p>
            <a:pPr algn="l"/>
            <a:endParaRPr lang="en-US" sz="2000" dirty="0"/>
          </a:p>
          <a:p>
            <a:pPr algn="l"/>
            <a:r>
              <a:rPr lang="en-US" sz="3600" dirty="0"/>
              <a:t>Extension</a:t>
            </a:r>
          </a:p>
          <a:p>
            <a:pPr algn="l"/>
            <a:r>
              <a:rPr lang="en-US" dirty="0"/>
              <a:t>You could research this further by examining the political, economic and social policies of Mussolini.</a:t>
            </a:r>
          </a:p>
        </p:txBody>
      </p:sp>
    </p:spTree>
    <p:extLst>
      <p:ext uri="{BB962C8B-B14F-4D97-AF65-F5344CB8AC3E}">
        <p14:creationId xmlns:p14="http://schemas.microsoft.com/office/powerpoint/2010/main" val="19336126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382</TotalTime>
  <Words>1047</Words>
  <Application>Microsoft Office PowerPoint</Application>
  <PresentationFormat>On-screen Show (4:3)</PresentationFormat>
  <Paragraphs>54</Paragraphs>
  <Slides>11</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Helvetica</vt:lpstr>
      <vt:lpstr>Office Theme</vt:lpstr>
      <vt:lpstr>History for the IB MYP 4&amp;5: by Concept  </vt:lpstr>
      <vt:lpstr>History for the IB MYP 4&amp;5: by Concept  </vt:lpstr>
      <vt:lpstr>History for the IB MYP 4&amp;5: by Concept  </vt:lpstr>
      <vt:lpstr>History for the IB MYP 4&amp;5: by Concept  </vt:lpstr>
      <vt:lpstr>History for the IB MYP 4&amp;5: by Concept  </vt:lpstr>
      <vt:lpstr>History for the IB MYP 4&amp;5: by Concept  </vt:lpstr>
      <vt:lpstr>History for the IB MYP 4&amp;5: by Concept  </vt:lpstr>
      <vt:lpstr>History for the IB MYP 4&amp;5: by Concept  </vt:lpstr>
      <vt:lpstr>History for the IB MYP 4&amp;5: by Concept  </vt:lpstr>
      <vt:lpstr>History for the IB MYP 4&amp;5: by Concept  </vt:lpstr>
      <vt:lpstr>History for the IB MYP 4&amp;5: by Concept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Garyk</dc:creator>
  <cp:lastModifiedBy>Michael Patrick Fitzgibbon</cp:lastModifiedBy>
  <cp:revision>75</cp:revision>
  <dcterms:created xsi:type="dcterms:W3CDTF">2015-04-24T07:28:59Z</dcterms:created>
  <dcterms:modified xsi:type="dcterms:W3CDTF">2025-11-19T04:15:27Z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797674</vt:lpwstr>
  </property>
  <property fmtid="{D5CDD505-2E9C-101B-9397-08002B2CF9AE}" pid="3" name="NXPowerLiteSettings">
    <vt:lpwstr>F5000400038000</vt:lpwstr>
  </property>
  <property fmtid="{D5CDD505-2E9C-101B-9397-08002B2CF9AE}" pid="4" name="NXPowerLiteVersion">
    <vt:lpwstr>D6.1.2</vt:lpwstr>
  </property>
</Properties>
</file>